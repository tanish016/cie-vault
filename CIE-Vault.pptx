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60" r:id="rId6"/>
    <p:sldId id="275" r:id="rId7"/>
    <p:sldId id="271" r:id="rId8"/>
    <p:sldId id="262" r:id="rId9"/>
    <p:sldId id="264" r:id="rId10"/>
    <p:sldId id="268" r:id="rId11"/>
    <p:sldId id="273" r:id="rId12"/>
    <p:sldId id="266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5F465-9447-4861-9EEC-84D266C8E8F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2330D-53CC-4B71-9CDE-23097BDC7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25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701028"/>
            <a:ext cx="9143999" cy="156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146800" y="0"/>
            <a:ext cx="2997200" cy="838200"/>
          </a:xfrm>
          <a:custGeom>
            <a:avLst/>
            <a:gdLst/>
            <a:ahLst/>
            <a:cxnLst/>
            <a:rect l="l" t="t" r="r" b="b"/>
            <a:pathLst>
              <a:path w="2997200" h="838200">
                <a:moveTo>
                  <a:pt x="2997200" y="0"/>
                </a:moveTo>
                <a:lnTo>
                  <a:pt x="0" y="0"/>
                </a:lnTo>
                <a:lnTo>
                  <a:pt x="0" y="838200"/>
                </a:lnTo>
                <a:lnTo>
                  <a:pt x="2997200" y="838200"/>
                </a:lnTo>
                <a:lnTo>
                  <a:pt x="29972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527800" y="190500"/>
            <a:ext cx="2076450" cy="685800"/>
          </a:xfrm>
          <a:custGeom>
            <a:avLst/>
            <a:gdLst/>
            <a:ahLst/>
            <a:cxnLst/>
            <a:rect l="l" t="t" r="r" b="b"/>
            <a:pathLst>
              <a:path w="2076450" h="685800">
                <a:moveTo>
                  <a:pt x="2076450" y="0"/>
                </a:moveTo>
                <a:lnTo>
                  <a:pt x="0" y="0"/>
                </a:lnTo>
                <a:lnTo>
                  <a:pt x="0" y="685800"/>
                </a:lnTo>
                <a:lnTo>
                  <a:pt x="2076450" y="685800"/>
                </a:lnTo>
                <a:lnTo>
                  <a:pt x="2076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29400" y="201617"/>
            <a:ext cx="1828799" cy="92392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6576860" y="0"/>
            <a:ext cx="2110105" cy="838200"/>
          </a:xfrm>
          <a:custGeom>
            <a:avLst/>
            <a:gdLst/>
            <a:ahLst/>
            <a:cxnLst/>
            <a:rect l="l" t="t" r="r" b="b"/>
            <a:pathLst>
              <a:path w="2110104" h="838200">
                <a:moveTo>
                  <a:pt x="2109939" y="0"/>
                </a:moveTo>
                <a:lnTo>
                  <a:pt x="0" y="0"/>
                </a:lnTo>
                <a:lnTo>
                  <a:pt x="0" y="838200"/>
                </a:lnTo>
                <a:lnTo>
                  <a:pt x="2109939" y="838200"/>
                </a:lnTo>
                <a:lnTo>
                  <a:pt x="2109939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76860" y="228600"/>
            <a:ext cx="1964423" cy="634780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6552603" y="190500"/>
            <a:ext cx="1983105" cy="685800"/>
          </a:xfrm>
          <a:custGeom>
            <a:avLst/>
            <a:gdLst/>
            <a:ahLst/>
            <a:cxnLst/>
            <a:rect l="l" t="t" r="r" b="b"/>
            <a:pathLst>
              <a:path w="1983104" h="685800">
                <a:moveTo>
                  <a:pt x="1982622" y="0"/>
                </a:moveTo>
                <a:lnTo>
                  <a:pt x="0" y="0"/>
                </a:lnTo>
                <a:lnTo>
                  <a:pt x="0" y="685800"/>
                </a:lnTo>
                <a:lnTo>
                  <a:pt x="1982622" y="685800"/>
                </a:lnTo>
                <a:lnTo>
                  <a:pt x="19826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88721" y="201617"/>
            <a:ext cx="1828798" cy="9239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389516"/>
            <a:ext cx="7363459" cy="314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365" y="1289100"/>
            <a:ext cx="839444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of Industry Oriented Hand on Experience (22CS422)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2777325"/>
            <a:ext cx="3441700" cy="1620957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</a:t>
            </a:r>
            <a:endParaRPr sz="2000" dirty="0">
              <a:latin typeface="Times New Roman"/>
              <a:cs typeface="Times New Roman"/>
            </a:endParaRPr>
          </a:p>
          <a:p>
            <a:pPr marL="12701"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US" spc="-25" dirty="0">
                <a:latin typeface="Times New Roman"/>
                <a:cs typeface="Times New Roman"/>
              </a:rPr>
              <a:t>1. Tanish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lang="en-IN" sz="1800" spc="-25" dirty="0">
                <a:latin typeface="Times New Roman"/>
                <a:cs typeface="Times New Roman"/>
              </a:rPr>
              <a:t>   </a:t>
            </a:r>
            <a:r>
              <a:rPr sz="1800" spc="-10" dirty="0">
                <a:latin typeface="Times New Roman"/>
                <a:cs typeface="Times New Roman"/>
              </a:rPr>
              <a:t>(2211981</a:t>
            </a:r>
            <a:r>
              <a:rPr lang="en-US" spc="-10" dirty="0">
                <a:latin typeface="Times New Roman"/>
                <a:cs typeface="Times New Roman"/>
              </a:rPr>
              <a:t>428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12701"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US" spc="-10" dirty="0">
                <a:latin typeface="Times New Roman"/>
                <a:cs typeface="Times New Roman"/>
              </a:rPr>
              <a:t>2. Tanish Kumar    </a:t>
            </a:r>
            <a:r>
              <a:rPr sz="1800" spc="-10" dirty="0">
                <a:latin typeface="Times New Roman"/>
                <a:cs typeface="Times New Roman"/>
              </a:rPr>
              <a:t>(2211981</a:t>
            </a:r>
            <a:r>
              <a:rPr lang="en-US" spc="-10" dirty="0">
                <a:latin typeface="Times New Roman"/>
                <a:cs typeface="Times New Roman"/>
              </a:rPr>
              <a:t>429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12701"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US" dirty="0">
                <a:latin typeface="Times New Roman"/>
                <a:cs typeface="Times New Roman"/>
              </a:rPr>
              <a:t>3. Sahil </a:t>
            </a:r>
            <a:r>
              <a:rPr lang="en-IN" dirty="0">
                <a:latin typeface="Times New Roman"/>
                <a:cs typeface="Times New Roman"/>
              </a:rPr>
              <a:t>Akhtar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lang="en-IN" sz="1800" spc="-65" dirty="0">
                <a:latin typeface="Times New Roman"/>
                <a:cs typeface="Times New Roman"/>
              </a:rPr>
              <a:t>      </a:t>
            </a:r>
            <a:r>
              <a:rPr sz="1800" spc="-10" dirty="0">
                <a:latin typeface="Times New Roman"/>
                <a:cs typeface="Times New Roman"/>
              </a:rPr>
              <a:t>(2211981</a:t>
            </a:r>
            <a:r>
              <a:rPr lang="en-US" sz="1800" spc="-10" dirty="0">
                <a:latin typeface="Times New Roman"/>
                <a:cs typeface="Times New Roman"/>
              </a:rPr>
              <a:t>330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lang="en-IN" sz="1800" spc="-10" dirty="0">
              <a:latin typeface="Times New Roman"/>
              <a:cs typeface="Times New Roman"/>
            </a:endParaRPr>
          </a:p>
          <a:p>
            <a:pPr marL="12701"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IN" spc="-10" dirty="0">
                <a:latin typeface="Times New Roman"/>
                <a:cs typeface="Times New Roman"/>
              </a:rPr>
              <a:t>4. Sourabh Kumar (2211981401)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68CDA1-A63A-86D8-39D2-0DCAE96470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FEBEBD-8E0E-2A92-10D6-8AD378528C6C}"/>
              </a:ext>
            </a:extLst>
          </p:cNvPr>
          <p:cNvSpPr txBox="1"/>
          <p:nvPr/>
        </p:nvSpPr>
        <p:spPr>
          <a:xfrm>
            <a:off x="1905000" y="5539403"/>
            <a:ext cx="5867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Chitkara University, Punjab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34374-AA52-428E-F947-D44ED11309D2}"/>
              </a:ext>
            </a:extLst>
          </p:cNvPr>
          <p:cNvSpPr txBox="1"/>
          <p:nvPr/>
        </p:nvSpPr>
        <p:spPr>
          <a:xfrm>
            <a:off x="4953000" y="2777325"/>
            <a:ext cx="349097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Swati Goel 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Chitkara University, Rajpura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/>
              <a:t>	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BBC10-392A-B179-CBEC-94E23E583393}"/>
              </a:ext>
            </a:extLst>
          </p:cNvPr>
          <p:cNvSpPr txBox="1"/>
          <p:nvPr/>
        </p:nvSpPr>
        <p:spPr>
          <a:xfrm>
            <a:off x="762000" y="1605426"/>
            <a:ext cx="78343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     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On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CIE-Vault</a:t>
            </a:r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937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latin typeface="Times New Roman"/>
                <a:cs typeface="Times New Roman"/>
              </a:rPr>
              <a:t>Introduction</a:t>
            </a:r>
            <a:endParaRPr sz="44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847B-CD13-AF0A-69BA-8D9E514942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0CE62800-DD72-28F1-2889-8E8B29E1B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836" y="1351508"/>
            <a:ext cx="843556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CIE-Vault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secure platform for managing academic copyright filling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students and mentors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safely upload project reports and copyright filing receipts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access levels for students and mentors ensure data privacy and security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 and sensitive information and protected using strong encryption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track status, while mentors review, give feedback, and approve efficiently.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3A0A07E5-D586-B93B-6E9A-FAF0A6A2012D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4152-D368-136D-74EA-B2E2806A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5652135" cy="553998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5A180-79D2-250B-AC35-6F7A3EACA6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D0E91C-6267-7E7B-EDF0-A4E1BD3E348A}"/>
              </a:ext>
            </a:extLst>
          </p:cNvPr>
          <p:cNvSpPr txBox="1"/>
          <p:nvPr/>
        </p:nvSpPr>
        <p:spPr>
          <a:xfrm>
            <a:off x="462116" y="1219200"/>
            <a:ext cx="8300884" cy="4088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                               </a:t>
            </a:r>
            <a:r>
              <a:rPr lang="en-US" sz="2400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buNone/>
            </a:pPr>
            <a:endParaRPr lang="en-US" sz="2400" dirty="0"/>
          </a:p>
          <a:p>
            <a:pPr algn="just">
              <a:lnSpc>
                <a:spcPct val="150000"/>
              </a:lnSpc>
              <a:buNone/>
            </a:pPr>
            <a:r>
              <a:rPr lang="en-US" sz="2400" dirty="0"/>
              <a:t>The academic copyright submission process is mostly  manual, causing unorganized data and security risks. Students often share login credentials through insecure channels. Lack of a centralized system leads to lost documents, errors, and poor transparency, while secure external peer review is difficult to manage.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E425941-05E1-FE59-01E9-BC6C72794EB2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1314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1" y="51307"/>
            <a:ext cx="533399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9425" algn="l">
              <a:lnSpc>
                <a:spcPct val="100000"/>
              </a:lnSpc>
              <a:spcBef>
                <a:spcPts val="95"/>
              </a:spcBef>
            </a:pPr>
            <a:r>
              <a:rPr lang="en-IN"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Solution</a:t>
            </a:r>
            <a:endParaRPr sz="3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4AA64-97E8-F9B1-4CEB-8BBB046B54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79B8D9-5075-0A19-EDDE-E1EC846C3B3B}"/>
              </a:ext>
            </a:extLst>
          </p:cNvPr>
          <p:cNvSpPr txBox="1"/>
          <p:nvPr/>
        </p:nvSpPr>
        <p:spPr>
          <a:xfrm>
            <a:off x="609600" y="1262560"/>
            <a:ext cx="8229600" cy="4088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4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Solution</a:t>
            </a:r>
          </a:p>
          <a:p>
            <a:endParaRPr lang="en-US" sz="24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/>
              <a:t>CIE-Vault</a:t>
            </a:r>
            <a:r>
              <a:rPr lang="en-US" sz="2400" dirty="0"/>
              <a:t> is a MERN-based system that automates academic copyright management. It uses automated extraction to read details from uploaded receipts. Features like dual-role authentication, college-based routing, and hybrid access control ensure security, while only authorized mentors can view sensitive information and credentials.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8478060-386A-4F35-EAB8-2A78A9D7CF08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8905" y="69596"/>
            <a:ext cx="332889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51577-AB9C-1365-3CE8-BAA6B1116E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3F74F32-F6A0-CCA2-D5CE-C145C0143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0841"/>
            <a:ext cx="8991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Metadata Extraction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Instantly extracts filing numbers and research titles from uploaded PDFs.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Access Control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Manages secure interaction between students, mentors, and external reviewers.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b="1" dirty="0"/>
              <a:t>Zero-Trust Security Vault: </a:t>
            </a:r>
            <a:r>
              <a:rPr lang="en-US" sz="2400" dirty="0"/>
              <a:t>Protects research data using AES-256 encryption and secure authentication.</a:t>
            </a:r>
            <a:endParaRPr lang="en-US" sz="2400" b="1" dirty="0"/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Embedded PDF Viewer: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Read documents directly within the platform.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 Role Dashboards: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Separate dashboards for students and mentors for smooth collaboration.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 Document Viewer: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Allows secure and protected viewing of research documents.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Works smoothly on desktop and mobile devices.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D85268C-5ED6-7D63-FB41-3E5961A5C464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A0C8-EA58-2BD5-141F-2528167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1555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System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28419-7140-62A3-5D4F-6DC04ECFF0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E5CFF7E-D9A1-6FCB-CBCA-46DC7EDC3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59434"/>
            <a:ext cx="88392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3-tier architecture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Frontend, Backend, and Database.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(React.js + Tailwind CSS)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user interface and interactions.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upload PDFs, view documents, and access AI features through UI.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(Node.js + Express.js)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processes requests and manages application logic.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Module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AES-256 encryption secures uploaded documents and sensitive credentials.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(MongoDB)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user details, documents,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and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securely.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flows from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→ Frontend → Backend → Database → Frontend.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25B56BF-291F-90FF-7775-D38AD9D9058F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528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37EC-62EE-BE3D-B5BE-F5E83382E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6" y="51307"/>
            <a:ext cx="6588504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E6186-F6CA-05BC-B4BB-51BAFFD302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596BDEF3-F04C-C090-6C0A-DCCAF7DEFC7A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03DDB-DC5E-5679-90D6-87B24B6359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18864"/>
            <a:ext cx="7848600" cy="537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67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72" y="51307"/>
            <a:ext cx="565213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95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4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09D340-BE3B-E946-B75C-84263E2858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2FA2AAA-AF58-2B00-7C7E-FBD941F9C2BF}"/>
              </a:ext>
            </a:extLst>
          </p:cNvPr>
          <p:cNvSpPr txBox="1"/>
          <p:nvPr/>
        </p:nvSpPr>
        <p:spPr>
          <a:xfrm>
            <a:off x="8610600" y="649960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6782A6-6E28-FDD6-4B06-AAA29E82A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72" y="1110902"/>
            <a:ext cx="8412928" cy="53582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8B6D7-5B14-C2E4-192E-C282AB38F8A3}"/>
              </a:ext>
            </a:extLst>
          </p:cNvPr>
          <p:cNvSpPr txBox="1"/>
          <p:nvPr/>
        </p:nvSpPr>
        <p:spPr>
          <a:xfrm>
            <a:off x="2057400" y="30480"/>
            <a:ext cx="29578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88BB5-9C10-A378-4818-CC13EA2EEF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F3C6FE5-A006-3D3F-71CF-4266AF13F2D2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5E38EA-5AAC-260F-3A6F-1827A8B184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914400"/>
            <a:ext cx="19812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DF03-D166-7311-4904-24E76424A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5652135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14DF5B-998A-6A83-F2EF-B13AC51343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204A672-03D2-CF1E-74B1-DD2295548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70800"/>
            <a:ext cx="86868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your Technology Stack here: </a:t>
            </a:r>
          </a:p>
          <a:p>
            <a:pPr marL="0" indent="0">
              <a:spcBef>
                <a:spcPts val="0"/>
              </a:spcBef>
              <a:buClr>
                <a:schemeClr val="lt2"/>
              </a:buClr>
              <a:buNone/>
            </a:pPr>
            <a:endParaRPr lang="en-US" b="1" dirty="0">
              <a:solidFill>
                <a:srgbClr val="1F1F1F"/>
              </a:solidFill>
              <a:latin typeface="Times New Roman" panose="02020603050405020304" pitchFamily="18" charset="0"/>
              <a:ea typeface="Helvetica Neue" panose="020B0604020202020204"/>
              <a:cs typeface="Times New Roman" panose="02020603050405020304" pitchFamily="18" charset="0"/>
              <a:sym typeface="Helvetica Neue" panose="020B0604020202020204"/>
            </a:endParaRPr>
          </a:p>
          <a:p>
            <a:pPr marL="0" indent="0">
              <a:spcBef>
                <a:spcPts val="0"/>
              </a:spcBef>
              <a:buClr>
                <a:schemeClr val="lt2"/>
              </a:buClr>
              <a:buNone/>
            </a:pPr>
            <a:r>
              <a:rPr lang="en-US" b="1" i="1" u="sng" dirty="0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Front-End Frameworks</a:t>
            </a:r>
            <a:r>
              <a:rPr lang="en-US" dirty="0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: For Front-End we use the frameworks like React, HTML, CSS, JavaScript.</a:t>
            </a:r>
          </a:p>
          <a:p>
            <a:pPr marL="0" indent="0">
              <a:spcBef>
                <a:spcPts val="0"/>
              </a:spcBef>
              <a:buClr>
                <a:schemeClr val="lt2"/>
              </a:buClr>
              <a:buNone/>
            </a:pPr>
            <a:endParaRPr lang="en-US" dirty="0">
              <a:solidFill>
                <a:srgbClr val="1F1F1F"/>
              </a:solidFill>
              <a:latin typeface="Times New Roman" panose="02020603050405020304" pitchFamily="18" charset="0"/>
              <a:ea typeface="Helvetica Neue" panose="020B0604020202020204"/>
              <a:cs typeface="Times New Roman" panose="02020603050405020304" pitchFamily="18" charset="0"/>
              <a:sym typeface="Helvetica Neue" panose="020B0604020202020204"/>
            </a:endParaRPr>
          </a:p>
          <a:p>
            <a:pPr marL="0" indent="0">
              <a:spcBef>
                <a:spcPts val="0"/>
              </a:spcBef>
              <a:buClr>
                <a:schemeClr val="lt2"/>
              </a:buClr>
              <a:buNone/>
            </a:pPr>
            <a:r>
              <a:rPr lang="en-US" b="1" i="1" u="sng" dirty="0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Front-End Technology:</a:t>
            </a:r>
            <a:r>
              <a:rPr lang="en-US" dirty="0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 In this we use the HTML, CSS ,JavaScript for the Front-end work for our website in this Project.</a:t>
            </a:r>
          </a:p>
          <a:p>
            <a:pPr marL="0" indent="0">
              <a:spcBef>
                <a:spcPts val="0"/>
              </a:spcBef>
              <a:buClr>
                <a:schemeClr val="lt2"/>
              </a:buClr>
              <a:buNone/>
            </a:pPr>
            <a:endParaRPr lang="en-US" dirty="0">
              <a:solidFill>
                <a:srgbClr val="1F1F1F"/>
              </a:solidFill>
              <a:latin typeface="Times New Roman" panose="02020603050405020304" pitchFamily="18" charset="0"/>
              <a:ea typeface="Helvetica Neue" panose="020B0604020202020204"/>
              <a:cs typeface="Times New Roman" panose="02020603050405020304" pitchFamily="18" charset="0"/>
              <a:sym typeface="Helvetica Neue" panose="020B0604020202020204"/>
            </a:endParaRPr>
          </a:p>
          <a:p>
            <a:pPr marL="0" indent="0">
              <a:spcBef>
                <a:spcPts val="0"/>
              </a:spcBef>
              <a:buClr>
                <a:schemeClr val="lt2"/>
              </a:buClr>
              <a:buNone/>
            </a:pPr>
            <a:r>
              <a:rPr lang="en-US" b="1" i="1" u="sng" dirty="0" err="1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DataBase</a:t>
            </a:r>
            <a:r>
              <a:rPr lang="en-US" b="1" i="1" u="sng" dirty="0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: </a:t>
            </a:r>
            <a:r>
              <a:rPr lang="en-US" dirty="0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For database We use the MongoDB Database which is officially provided by the Google Company at free of Cost to store our data of our websites.</a:t>
            </a:r>
          </a:p>
          <a:p>
            <a:pPr marL="0" indent="0">
              <a:spcBef>
                <a:spcPts val="0"/>
              </a:spcBef>
              <a:buClr>
                <a:schemeClr val="lt2"/>
              </a:buClr>
              <a:buNone/>
            </a:pPr>
            <a:endParaRPr lang="en-US" b="1" i="1" u="sng" dirty="0">
              <a:solidFill>
                <a:srgbClr val="1F1F1F"/>
              </a:solidFill>
              <a:latin typeface="Times New Roman" panose="02020603050405020304" pitchFamily="18" charset="0"/>
              <a:ea typeface="Helvetica Neue" panose="020B0604020202020204"/>
              <a:cs typeface="Times New Roman" panose="02020603050405020304" pitchFamily="18" charset="0"/>
              <a:sym typeface="Helvetica Neue" panose="020B0604020202020204"/>
            </a:endParaRPr>
          </a:p>
          <a:p>
            <a:pPr marL="0" indent="0">
              <a:spcBef>
                <a:spcPts val="0"/>
              </a:spcBef>
              <a:buClr>
                <a:schemeClr val="lt2"/>
              </a:buClr>
              <a:buNone/>
            </a:pPr>
            <a:r>
              <a:rPr lang="en-US" b="1" i="1" u="sng" dirty="0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Back-End Technology: </a:t>
            </a:r>
            <a:r>
              <a:rPr lang="en-US" dirty="0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For Back-end we use the Node </a:t>
            </a:r>
            <a:r>
              <a:rPr lang="en-US" dirty="0" err="1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Js</a:t>
            </a:r>
            <a:r>
              <a:rPr lang="en-US" dirty="0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, Express. </a:t>
            </a:r>
            <a:r>
              <a:rPr lang="en-US" dirty="0" err="1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Js</a:t>
            </a:r>
            <a:r>
              <a:rPr lang="en-US" dirty="0">
                <a:solidFill>
                  <a:srgbClr val="1F1F1F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 etc.</a:t>
            </a:r>
            <a:endParaRPr lang="en-US" b="1" i="1" u="sng" dirty="0">
              <a:solidFill>
                <a:srgbClr val="1F1F1F"/>
              </a:solidFill>
              <a:latin typeface="Times New Roman" panose="02020603050405020304" pitchFamily="18" charset="0"/>
              <a:ea typeface="Helvetica Neue" panose="020B0604020202020204"/>
              <a:cs typeface="Times New Roman" panose="02020603050405020304" pitchFamily="18" charset="0"/>
              <a:sym typeface="Helvetica Neue" panose="020B0604020202020204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9243BC8-606A-C98C-9BCC-89C129A04E83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BF505-E4A8-D494-512E-3973D1AC4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8" y="5029200"/>
            <a:ext cx="8215312" cy="150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5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4B203-C277-8ADE-8241-0D8F59AF7809}"/>
              </a:ext>
            </a:extLst>
          </p:cNvPr>
          <p:cNvSpPr txBox="1"/>
          <p:nvPr/>
        </p:nvSpPr>
        <p:spPr>
          <a:xfrm>
            <a:off x="152400" y="0"/>
            <a:ext cx="579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Conclusion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81787A-5ADB-99C8-BDA9-84ADDC0016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DB44892-0C35-91DB-A4CE-79872C7F0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45634"/>
            <a:ext cx="9144000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AI can provide smart suggestions and automatic research summaries.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Cloud storage can improve scalability, security, and easy data access.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Blockchain technology can be used to improve copyright verification and ownership tracking.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accessibility.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CIE-Vault improves academic copyright management with         secure and smart automation.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673008C-7445-BC00-CF32-A062FFBB9ADA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1833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148" y="3030863"/>
            <a:ext cx="397891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Thank</a:t>
            </a:r>
            <a:r>
              <a:rPr sz="6600" b="1" spc="-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6600" b="1" spc="-77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Y</a:t>
            </a:r>
            <a:r>
              <a:rPr sz="6600" b="1" spc="-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o</a:t>
            </a:r>
            <a:r>
              <a:rPr sz="6600" b="1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u</a:t>
            </a:r>
            <a:endParaRPr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0174A-A083-53B5-D70B-5C94D193C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DDF80EE-729D-217D-DCE7-922B20254C12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2243</TotalTime>
  <Words>635</Words>
  <Application>Microsoft Office PowerPoint</Application>
  <PresentationFormat>On-screen Show (4:3)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    Project Presentation of Industry Oriented Hand on Experience (22CS422)</vt:lpstr>
      <vt:lpstr>Introduction</vt:lpstr>
      <vt:lpstr>Problem Statement</vt:lpstr>
      <vt:lpstr>Problem Solution</vt:lpstr>
      <vt:lpstr>Key Features</vt:lpstr>
      <vt:lpstr>  System Architecture</vt:lpstr>
      <vt:lpstr>Workflow Diagram</vt:lpstr>
      <vt:lpstr>Class Diagram</vt:lpstr>
      <vt:lpstr>PowerPoint Presentation</vt:lpstr>
      <vt:lpstr>Technology Used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Tanish ..</cp:lastModifiedBy>
  <cp:revision>77</cp:revision>
  <dcterms:created xsi:type="dcterms:W3CDTF">2025-03-11T17:49:38Z</dcterms:created>
  <dcterms:modified xsi:type="dcterms:W3CDTF">2026-05-07T18:22:16Z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2025-03-11T00:00:00Z</vt:filetime>
  </property>
  <property fmtid="{D5CDD505-2E9C-101B-9397-08002B2CF9AE}" pid="5" name="Producer">
    <vt:lpwstr>Adobe PDF Library 25.1.204</vt:lpwstr>
  </property>
</Properties>
</file>